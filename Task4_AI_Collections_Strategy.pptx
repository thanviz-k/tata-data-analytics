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-1097280"/>
            <a:ext cx="5029200" cy="5029200"/>
          </a:xfrm>
          <a:prstGeom prst="ellipse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-640080"/>
            <a:ext cx="4114800" cy="4114800"/>
          </a:xfrm>
          <a:prstGeom prst="ellipse">
            <a:avLst/>
          </a:prstGeom>
          <a:solidFill>
            <a:srgbClr val="0096C7">
              <a:alpha val="25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3774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EXECUTIVE BRIEFING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96012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System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Geldium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84048" y="32004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</a:rPr>
              <a:t>Turning predictive insight into responsible, scalable 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Head of Collections  ·  Geldium Financial Services  ·  May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0" y="16459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096C7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1810512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0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</a:rPr>
              <a:t>Data Ingestion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8138160" y="16459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096C7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92" y="1810512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38160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</a:rPr>
              <a:t>Risk Scoring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858000" y="310896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096C7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3273552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38679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</a:rPr>
              <a:t>Automated Action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8138160" y="310896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096C7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3273552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38160" y="38679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</a:rPr>
              <a:t>Learning Loop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From raw customer data to intelligent decision-making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20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92024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124712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1. Data Ingestion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2212848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Credit score, utilisation,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missed payments,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6-month payment history,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income &amp; employment status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94560" y="2468880"/>
            <a:ext cx="2011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4560" y="2496312"/>
            <a:ext cx="2011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68880" y="1051560"/>
            <a:ext cx="1920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1051560"/>
            <a:ext cx="1920240" cy="7498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124712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2. Risk Scoring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560320" y="2212848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XGBoost model outputs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delinquency probability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score (0–1) per customer.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Updated monthly.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89120" y="2468880"/>
            <a:ext cx="2011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89120" y="2496312"/>
            <a:ext cx="2011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63440" y="1051560"/>
            <a:ext cx="1920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0" y="1051560"/>
            <a:ext cx="1920240" cy="74980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124712"/>
            <a:ext cx="566928" cy="5669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6344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3. Automated Action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754880" y="2212848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Score ≥0.65 → agent call.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0.45–0.65 → SMS/email.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Score &lt;0.45 → no action.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Outreach within 5 days.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583680" y="2468880"/>
            <a:ext cx="2011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83680" y="2496312"/>
            <a:ext cx="2011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0" y="1051560"/>
            <a:ext cx="1920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858000" y="1051560"/>
            <a:ext cx="1920240" cy="749808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124712"/>
            <a:ext cx="566928" cy="56692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4. Learning Loop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949440" y="2212848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Outcomes (repaid, missed)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feed back into training.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Monthly retraining keeps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model current.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solidFill>
            <a:srgbClr val="E8F0F9"/>
          </a:solidFill>
          <a:ln w="12700">
            <a:solidFill>
              <a:srgbClr val="E8F0F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5760" y="4690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All data processing uses only authorised fields. Location is reviewed quarterly for proxy-discrimination risk before inclusion.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Agentic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Where the system acts autonomously — and where humans stay in the loop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6583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6128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0972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AUTONOMOUS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874520"/>
            <a:ext cx="41148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874520"/>
            <a:ext cx="54864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336" y="1911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Risk scoring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2336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XGBoost generates delinquency scores for all accounts nightly — no agent involvement required.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2633472"/>
            <a:ext cx="4114800" cy="685800"/>
          </a:xfrm>
          <a:prstGeom prst="rect">
            <a:avLst/>
          </a:prstGeom>
          <a:solidFill>
            <a:srgbClr val="111F3A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633472"/>
            <a:ext cx="54864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2670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Digital outreach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02336" y="2907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Automated SMS and email sent to customers with scores between 0.45–0.65 on a pre-approved script.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3392424"/>
            <a:ext cx="41148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3392424"/>
            <a:ext cx="54864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Monitoring alerts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02336" y="3666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System flags when model performance metrics (AUC, F1) fall below threshold and triggers retraining.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4151376"/>
            <a:ext cx="4114800" cy="685800"/>
          </a:xfrm>
          <a:prstGeom prst="rect">
            <a:avLst/>
          </a:prstGeom>
          <a:solidFill>
            <a:srgbClr val="111F3A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4151376"/>
            <a:ext cx="54864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2336" y="4187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Reporting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02336" y="44256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Weekly KPI dashboards generated and distributed to the Collections leadership team automatically.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1097280"/>
            <a:ext cx="4114800" cy="6583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61288"/>
            <a:ext cx="438912" cy="43891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21808" y="10972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HUMAN OVERSIGHT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663440" y="1874520"/>
            <a:ext cx="41148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63440" y="1874520"/>
            <a:ext cx="54864" cy="6858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91456" y="1911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High-risk contacts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791456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Customers with score ≥ 0.65 receive a personalised agent call — no automated adverse action.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663440" y="2633472"/>
            <a:ext cx="4114800" cy="685800"/>
          </a:xfrm>
          <a:prstGeom prst="rect">
            <a:avLst/>
          </a:prstGeom>
          <a:solidFill>
            <a:srgbClr val="111F3A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663440" y="2633472"/>
            <a:ext cx="54864" cy="6858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91456" y="2670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Borderline decisions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791456" y="2907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Scores 0.45–0.55 reviewed manually before any credit action (limit change, referral to arrears).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663440" y="3392424"/>
            <a:ext cx="41148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663440" y="3392424"/>
            <a:ext cx="54864" cy="6858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91456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Fairness audits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791456" y="3666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Quarterly fairness reviews conducted by the Analytics and Compliance teams to check for bias.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663440" y="4151376"/>
            <a:ext cx="4114800" cy="685800"/>
          </a:xfrm>
          <a:prstGeom prst="rect">
            <a:avLst/>
          </a:prstGeom>
          <a:solidFill>
            <a:srgbClr val="111F3A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663440" y="4151376"/>
            <a:ext cx="54864" cy="6858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91456" y="4187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Model sign-off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4791456" y="44256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Any retrained model version requires sign-off from the Risk Committee before deployment.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544568" y="1097280"/>
            <a:ext cx="0" cy="3794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Guardrails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Built-in safeguards for fair, transparent, and compliant operation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566928" cy="19019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824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078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Fairness &amp; Bias Controls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6968" y="14264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Disparate impact checks run quarterly across Employment_Status and Location sub-groups.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86968" y="1911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If impact ratio &lt; 0.80 for any group, model retraining or feature removal is triggered.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86968" y="2395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SHAP audits identify proxy-discrimination risks before each deployment.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00600" y="1024128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024128"/>
            <a:ext cx="566928" cy="1901952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8249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1078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B72"/>
                </a:solidFill>
              </a:rPr>
              <a:t>Explainability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58968" y="14264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SHAP values provide plain-language explanations: 'This customer's score was elevated by 4 missed payments and 78% credit utilisation.'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58968" y="1911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Collections agents see top 3 risk drivers per customer in their dashboard.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458968" y="2395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Adverse action notices generated automatically, meeting ECOA requirements.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28600" y="3035808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28600" y="3035808"/>
            <a:ext cx="566928" cy="19019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69417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6968" y="3090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8B"/>
                </a:solidFill>
              </a:rPr>
              <a:t>Regulatory Compliance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86968" y="3438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Only authorised data fields processed; no sensitive demographic attributes used directly.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86968" y="39227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All model versions versioned and logged for audit trail.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86968" y="4407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GDPR right-to-explanation supported via on-demand customer reports.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800600" y="3035808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800600" y="3035808"/>
            <a:ext cx="566928" cy="1901952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94176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58968" y="3090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C00"/>
                </a:solidFill>
              </a:rPr>
              <a:t>Accountability &amp; Governance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458968" y="3438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Designated Model Owner responsible for monthly performance review.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458968" y="39227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Risk Committee sign-off required for each model version before deployment.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458968" y="4407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</a:rPr>
              <a:t>•  Annual independent ethics review by third-party auditor.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Quantitative KPIs and qualitative outcomes for Geldium's Collections strategy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1920240" cy="1417320"/>
          </a:xfrm>
          <a:prstGeom prst="rect">
            <a:avLst/>
          </a:prstGeom>
          <a:solidFill>
            <a:srgbClr val="1A2F5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1704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4B6"/>
                </a:solidFill>
              </a:rPr>
              <a:t>−15%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6032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90-day delinquency 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among high-risk segment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32304" y="1115568"/>
            <a:ext cx="1920240" cy="1417320"/>
          </a:xfrm>
          <a:prstGeom prst="rect">
            <a:avLst/>
          </a:prstGeom>
          <a:solidFill>
            <a:srgbClr val="1A2F5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32304" y="11704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−20%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32304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Cost per recovery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vs. post-default collections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08576" y="1115568"/>
            <a:ext cx="1920240" cy="1417320"/>
          </a:xfrm>
          <a:prstGeom prst="rect">
            <a:avLst/>
          </a:prstGeom>
          <a:solidFill>
            <a:srgbClr val="1A2F5A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11704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</a:rPr>
              <a:t>+25%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08576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Early-intervention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capture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84848" y="1115568"/>
            <a:ext cx="1920240" cy="1417320"/>
          </a:xfrm>
          <a:prstGeom prst="rect">
            <a:avLst/>
          </a:prstGeom>
          <a:solidFill>
            <a:srgbClr val="1A2F5A"/>
          </a:solidFill>
          <a:ln w="12700">
            <a:solidFill>
              <a:srgbClr val="E040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84848" y="11704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40FB"/>
                </a:solidFill>
              </a:rPr>
              <a:t>×3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84848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Faster risk triage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8EC"/>
                </a:solidFill>
              </a:rPr>
              <a:t>vs. manual 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670048"/>
            <a:ext cx="41148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670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BUSINESS KPIs</a:t>
            </a:r>
            <a:endParaRPr lang="en-US" sz="10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45536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67512" y="307238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Reduced delinquency rate: target 15% reduction in 90-day defaults within 6 months.</a:t>
            </a:r>
            <a:endParaRPr lang="en-US" sz="9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739896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7512" y="36667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Lower collections costs: proactive outreach costs 60–70% less than post-default recovery.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33425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7512" y="42611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Scalability: system handles full customer portfolio with no linear increase in headcount.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773168" y="2670048"/>
            <a:ext cx="4114800" cy="3474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73168" y="2670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CUSTOMER OUTCOMES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45536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93792" y="307238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Earlier, supportive contact: customers reached before default, not after — reducing stress and preserving relationships.</a:t>
            </a:r>
            <a:endParaRPr lang="en-US" sz="9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739896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93792" y="36667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Fairer decisions: bias-checked model ensures no customer group is disproportionately flagged.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334256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93792" y="42611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Transparency: customers can request plain-language explanations of any risk-based decision.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5029200" cy="5029200"/>
          </a:xfrm>
          <a:prstGeom prst="ellipse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365760"/>
            <a:ext cx="4114800" cy="4114800"/>
          </a:xfrm>
          <a:prstGeom prst="ellipse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02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84048" y="1005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</a:rPr>
              <a:t>Recommended actions to move from concept to pilot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81328"/>
            <a:ext cx="5943600" cy="731520"/>
          </a:xfrm>
          <a:prstGeom prst="rect">
            <a:avLst/>
          </a:prstGeom>
          <a:solidFill>
            <a:srgbClr val="0D2045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481328"/>
            <a:ext cx="658368" cy="731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81328"/>
            <a:ext cx="658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1527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</a:rPr>
              <a:t>Weeks 1–4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17922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Finalise data pipeline, validate feature set, and run initial XGBoost baseline on historical data.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331720"/>
            <a:ext cx="5943600" cy="731520"/>
          </a:xfrm>
          <a:prstGeom prst="rect">
            <a:avLst/>
          </a:prstGeom>
          <a:solidFill>
            <a:srgbClr val="132754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331720"/>
            <a:ext cx="658368" cy="731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31720"/>
            <a:ext cx="658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2377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</a:rPr>
              <a:t>Weeks 5–8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26426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Conduct fairness audit. Obtain Risk Committee approval. Build agent dashboard with SHAP explainability.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182112"/>
            <a:ext cx="5943600" cy="731520"/>
          </a:xfrm>
          <a:prstGeom prst="rect">
            <a:avLst/>
          </a:prstGeom>
          <a:solidFill>
            <a:srgbClr val="0D2045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182112"/>
            <a:ext cx="658368" cy="731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82112"/>
            <a:ext cx="658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15568" y="3227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</a:rPr>
              <a:t>Weeks 9–12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Launch pilot with high-utilisation customer segment. Measure delinquency rate and agent contact outcomes.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4032504"/>
            <a:ext cx="5943600" cy="731520"/>
          </a:xfrm>
          <a:prstGeom prst="rect">
            <a:avLst/>
          </a:prstGeom>
          <a:solidFill>
            <a:srgbClr val="132754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4032504"/>
            <a:ext cx="658368" cy="731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032504"/>
            <a:ext cx="658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15568" y="40782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</a:rPr>
              <a:t>Month 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Full evaluation: KPI review, bias check, customer feedback analysis. Decision on full deployment.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0" y="1371600"/>
            <a:ext cx="1993392" cy="3337560"/>
          </a:xfrm>
          <a:prstGeom prst="rect">
            <a:avLst/>
          </a:prstGeom>
          <a:solidFill>
            <a:srgbClr val="0914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15087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Built 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178308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XGBoost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Predictive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40880" y="2359152"/>
            <a:ext cx="1627632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42316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EDA Insights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(Task 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40880" y="2944368"/>
            <a:ext cx="1627632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99923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Stakeholder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Recommendations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(Task 3)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40880" y="3694176"/>
            <a:ext cx="1627632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7490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Responsible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5D8EC"/>
                </a:solidFill>
              </a:rPr>
              <a:t>AI Framework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A smarter, fairer collections system — built on data, governed by principle.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System — Geldium</dc:title>
  <dc:subject>PptxGenJS Presentation</dc:subject>
  <dc:creator>PptxGenJS</dc:creator>
  <cp:lastModifiedBy>PptxGenJS</cp:lastModifiedBy>
  <cp:revision>1</cp:revision>
  <dcterms:created xsi:type="dcterms:W3CDTF">2026-05-21T06:53:07Z</dcterms:created>
  <dcterms:modified xsi:type="dcterms:W3CDTF">2026-05-21T06:53:07Z</dcterms:modified>
</cp:coreProperties>
</file>